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3.png"/><Relationship Id="rId6" Type="http://schemas.openxmlformats.org/officeDocument/2006/relationships/image" Target="../media/image-5-4.svg"/><Relationship Id="rId7" Type="http://schemas.openxmlformats.org/officeDocument/2006/relationships/image" Target="../media/image-5-3.png"/><Relationship Id="rId8" Type="http://schemas.openxmlformats.org/officeDocument/2006/relationships/image" Target="../media/image-5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62751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 Charging Revenue &amp; Price Sensitivity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3489821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Historical performance, revenue forecasting and pricing scenario analysis | 2022–2024 actuals + 2025 forecast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965377"/>
            <a:ext cx="734002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2759" y="4017665"/>
            <a:ext cx="1134240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19299" y="3965377"/>
            <a:ext cx="1587460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3972" y="4017665"/>
            <a:ext cx="1987699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STATISTICAL ANALYSIS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3970" y="3965377"/>
            <a:ext cx="1093264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8643" y="4017665"/>
            <a:ext cx="1493502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FORECASTING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4445" y="3965377"/>
            <a:ext cx="823892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9118" y="4017665"/>
            <a:ext cx="1224130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 BI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86470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Revenue Performance: 2022–2024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86371"/>
            <a:ext cx="6328311" cy="4158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595045"/>
            <a:ext cx="632831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and session volume both grew substantially from 2022 to 2024, with revenue growth moderating from 151.5% to 76.0%.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405205" y="1286371"/>
            <a:ext cx="4094655" cy="1134170"/>
          </a:xfrm>
          <a:prstGeom prst="roundRect">
            <a:avLst>
              <a:gd name="adj" fmla="val 565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64248" y="1445419"/>
            <a:ext cx="377656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64248" y="1803499"/>
            <a:ext cx="3776568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£1.03M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revenue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40,640 sessions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5205" y="2554089"/>
            <a:ext cx="4094655" cy="1363166"/>
          </a:xfrm>
          <a:prstGeom prst="roundRect">
            <a:avLst>
              <a:gd name="adj" fmla="val 470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4248" y="2713137"/>
            <a:ext cx="377656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64248" y="3071217"/>
            <a:ext cx="3776568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£2.59M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revenue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86,132 sessions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+151.5% growth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5205" y="4050804"/>
            <a:ext cx="4094655" cy="1363166"/>
          </a:xfrm>
          <a:prstGeom prst="roundRect">
            <a:avLst>
              <a:gd name="adj" fmla="val 470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64248" y="4209852"/>
            <a:ext cx="377656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64248" y="4567932"/>
            <a:ext cx="3776568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£4.55M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revenue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167,252 sessions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+76.0% growth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5205" y="5564287"/>
            <a:ext cx="4094655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more than quadrupled over three years. Session volume growth tracked revenue expansion, indicating demand-driven expansion.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87065"/>
            <a:ext cx="10795524" cy="42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spc="-2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Pricing &amp; Demand Relationship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98086" y="1211362"/>
            <a:ext cx="522145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 per kWh (Weighted Average)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8086" y="1558528"/>
            <a:ext cx="2550850" cy="870545"/>
          </a:xfrm>
          <a:prstGeom prst="roundRect">
            <a:avLst>
              <a:gd name="adj" fmla="val 6974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594" y="1722041"/>
            <a:ext cx="222383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1594" y="2054225"/>
            <a:ext cx="2223833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-23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£0.51</a:t>
            </a:r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/ kWh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8591" y="1558528"/>
            <a:ext cx="2550949" cy="870545"/>
          </a:xfrm>
          <a:prstGeom prst="roundRect">
            <a:avLst>
              <a:gd name="adj" fmla="val 6974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2099" y="1722041"/>
            <a:ext cx="222393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32099" y="2054225"/>
            <a:ext cx="2223933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-23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£0.64</a:t>
            </a:r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/ kWh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8086" y="2548731"/>
            <a:ext cx="5221455" cy="870545"/>
          </a:xfrm>
          <a:prstGeom prst="roundRect">
            <a:avLst>
              <a:gd name="adj" fmla="val 6974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594" y="2712244"/>
            <a:ext cx="489443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1594" y="3044428"/>
            <a:ext cx="4894438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-23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£0.59</a:t>
            </a:r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/ kWh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8086" y="3590032"/>
            <a:ext cx="5221455" cy="1905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8086" y="3779838"/>
            <a:ext cx="522145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Regression Output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036" y="4107954"/>
            <a:ext cx="5240504" cy="5816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80644" y="4127004"/>
            <a:ext cx="503889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 Elasticity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0644" y="4459188"/>
            <a:ext cx="5038897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+0.75 — positive coefficient, counterintuitive direction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036" y="4890790"/>
            <a:ext cx="5240504" cy="5816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80644" y="4909840"/>
            <a:ext cx="503889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p-value = 0.854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80644" y="5242024"/>
            <a:ext cx="5038897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-23" kern="0" dirty="0">
                <a:solidFill>
                  <a:srgbClr val="E282B7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Not statistically significant</a:t>
            </a:r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fails conventional thresholds (0.05 / 0.10)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036" y="5673626"/>
            <a:ext cx="5240504" cy="5816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0644" y="5692676"/>
            <a:ext cx="503889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R² = 0.997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80644" y="6024860"/>
            <a:ext cx="5038897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model fit driven by underlying trend, not price signal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74427" y="1091704"/>
            <a:ext cx="5429610" cy="5279132"/>
          </a:xfrm>
          <a:prstGeom prst="roundRect">
            <a:avLst>
              <a:gd name="adj" fmla="val 1971"/>
            </a:avLst>
          </a:prstGeom>
          <a:solidFill>
            <a:srgbClr val="3371A5"/>
          </a:solidFill>
          <a:ln/>
        </p:spPr>
      </p:sp>
      <p:sp>
        <p:nvSpPr>
          <p:cNvPr id="25" name="Text 20"/>
          <p:cNvSpPr/>
          <p:nvPr/>
        </p:nvSpPr>
        <p:spPr>
          <a:xfrm>
            <a:off x="6318886" y="1211362"/>
            <a:ext cx="514069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3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the Elasticity Cannot Be Trusted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18886" y="1543546"/>
            <a:ext cx="5140692" cy="952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Aggregated monthly data conflates multiple growth drivers. The p-value of </a:t>
            </a:r>
            <a:pPr algn="l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100" b="1" spc="-23" kern="0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0.854</a:t>
            </a:r>
            <a:pPr algn="l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indicates no statistical evidence of a reliable price-demand relationship at this level of aggregation.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Observed demand variation is strongly influenced by: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18886" y="2604195"/>
            <a:ext cx="5140692" cy="97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2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Underlying market expansion (EV adoption curves)</a:t>
            </a:r>
            <a:endParaRPr lang="en-US" sz="1100" dirty="0"/>
          </a:p>
          <a:p>
            <a:pPr algn="l" marL="223520" indent="-223520">
              <a:lnSpc>
                <a:spcPct val="122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Network infrastructure rollout</a:t>
            </a:r>
            <a:endParaRPr lang="en-US" sz="1100" dirty="0"/>
          </a:p>
          <a:p>
            <a:pPr algn="l" marL="223520" indent="-223520">
              <a:lnSpc>
                <a:spcPct val="122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Seasonal and time-of-day patterns</a:t>
            </a:r>
            <a:endParaRPr lang="en-US" sz="1100" dirty="0"/>
          </a:p>
          <a:p>
            <a:pPr algn="l" marL="223520" indent="-223520">
              <a:lnSpc>
                <a:spcPct val="122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Station and charger-type mix changes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18886" y="3682802"/>
            <a:ext cx="5140692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These confounders dominate the price signal in monthly aggregate data, making it impossible to isolate pricing effects with this dataset structure.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318886" y="4240113"/>
            <a:ext cx="5140692" cy="710208"/>
          </a:xfrm>
          <a:prstGeom prst="roundRect">
            <a:avLst>
              <a:gd name="adj" fmla="val 8548"/>
            </a:avLst>
          </a:prstGeom>
          <a:solidFill>
            <a:srgbClr val="4B3F0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345" y="4428232"/>
            <a:ext cx="180673" cy="14446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88476" y="4383881"/>
            <a:ext cx="4526643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spc="-2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p-value of 0.854 means pricing effects cannot be reliably distinguished from noise. Do not interpret the +0.75 elasticity as causal.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0402"/>
            <a:ext cx="10795524" cy="32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Revenue Forecasting: Holt-Winters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98086" y="1011535"/>
            <a:ext cx="581774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 Error Comparison — Test Period (Jul–Dec 2024)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48668"/>
            <a:ext cx="5817744" cy="399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5318224"/>
            <a:ext cx="642732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Holt-Winters exponential smoothing outperformed naive baseline on both error metrics, validated on a held-out test set.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788278" y="1011535"/>
            <a:ext cx="471158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Training &amp; Validation Setup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88278" y="1383109"/>
            <a:ext cx="471158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Training 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88278" y="1611709"/>
            <a:ext cx="471158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January 2022 – June 2024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788278" y="2024360"/>
            <a:ext cx="471158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Test Period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88278" y="2252960"/>
            <a:ext cx="471158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July 2024 – December 2024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788278" y="2498725"/>
            <a:ext cx="4711582" cy="1270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788278" y="2615307"/>
            <a:ext cx="471158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2025 Forecast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88278" y="2852440"/>
            <a:ext cx="2321661" cy="601266"/>
          </a:xfrm>
          <a:prstGeom prst="roundRect">
            <a:avLst>
              <a:gd name="adj" fmla="val 762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666" y="2967831"/>
            <a:ext cx="209088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Annual Total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03666" y="3196431"/>
            <a:ext cx="209088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£6.43M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178100" y="2852440"/>
            <a:ext cx="2321760" cy="601266"/>
          </a:xfrm>
          <a:prstGeom prst="roundRect">
            <a:avLst>
              <a:gd name="adj" fmla="val 762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93489" y="2967831"/>
            <a:ext cx="209098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Monthly Avg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293489" y="3196431"/>
            <a:ext cx="209098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£536K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788278" y="3521869"/>
            <a:ext cx="4711582" cy="601266"/>
          </a:xfrm>
          <a:prstGeom prst="roundRect">
            <a:avLst>
              <a:gd name="adj" fmla="val 762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666" y="3637260"/>
            <a:ext cx="448080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Monthly Range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03666" y="3865860"/>
            <a:ext cx="4480805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£509.7K – £545.6K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88278" y="4227016"/>
            <a:ext cx="4711582" cy="1270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788278" y="4398070"/>
            <a:ext cx="4711582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31.6%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788278" y="4863604"/>
            <a:ext cx="471158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MAE Reduction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88278" y="5092204"/>
            <a:ext cx="471158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£9,833 → £6,727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88278" y="5424884"/>
            <a:ext cx="4711582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29.0%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788278" y="5890419"/>
            <a:ext cx="471158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spc="-1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RMSE Reduction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88278" y="6119019"/>
            <a:ext cx="471158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£11,419 → £8,111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775578" y="1248668"/>
            <a:ext cx="4736981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30" name="Shape 27"/>
          <p:cNvSpPr/>
          <p:nvPr/>
        </p:nvSpPr>
        <p:spPr>
          <a:xfrm>
            <a:off x="6775578" y="1889919"/>
            <a:ext cx="4736981" cy="25400"/>
          </a:xfrm>
          <a:prstGeom prst="rect">
            <a:avLst/>
          </a:prstGeom>
          <a:solidFill>
            <a:srgbClr val="3371A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8277"/>
            <a:ext cx="10795524" cy="368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spc="-2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Pricing Scenario Analysis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98086" y="1047452"/>
            <a:ext cx="10795524" cy="406301"/>
          </a:xfrm>
          <a:prstGeom prst="roundRect">
            <a:avLst>
              <a:gd name="adj" fmla="val 12968"/>
            </a:avLst>
          </a:prstGeom>
          <a:solidFill>
            <a:srgbClr val="FCF2B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495" y="1179810"/>
            <a:ext cx="156762" cy="125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5666" y="1168896"/>
            <a:ext cx="10872119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These are illustrative model-based scenarios only. The estimated elasticity (+0.75) was not statistically significant (p = 0.854). Do not interpret as causal predictions or pricing recommendations.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1656556"/>
            <a:ext cx="6354901" cy="4175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086" y="5933777"/>
            <a:ext cx="6354901" cy="34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Illustrative revenue and demand changes under three pricing scenarios based on the estimated (non-significant) elasticity coefficient.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365320" y="1645245"/>
            <a:ext cx="413454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Scenario Detail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320" y="1931194"/>
            <a:ext cx="4134540" cy="7233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54227" y="2069306"/>
            <a:ext cx="380752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Baseline (0% change)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7554227" y="2343944"/>
            <a:ext cx="3807523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Revenue: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spc="-2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0.00%</a:t>
            </a:r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| Demand: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spc="-2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0.00%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5320" y="2744589"/>
            <a:ext cx="4134540" cy="7233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54227" y="2882702"/>
            <a:ext cx="380752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 +5%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7554227" y="3157339"/>
            <a:ext cx="3807523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Revenue: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spc="-20" kern="0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+8.91%</a:t>
            </a:r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| Demand: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spc="-2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+3.73%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5320" y="3557984"/>
            <a:ext cx="4134540" cy="7233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54227" y="3696097"/>
            <a:ext cx="380752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 −10%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7554227" y="3970734"/>
            <a:ext cx="3807523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Revenue: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spc="-20" kern="0" dirty="0">
                <a:solidFill>
                  <a:srgbClr val="E282B7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−16.84%</a:t>
            </a:r>
            <a:pPr algn="l" indent="0" marL="0">
              <a:lnSpc>
                <a:spcPct val="115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| Demand: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spc="-2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−7.60%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7365320" y="4382691"/>
            <a:ext cx="4134540" cy="276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estimates derived from elasticity coefficient (+0.75). Statistical non-significance means confidence intervals are wide and direction unreliable.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05718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Insights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288852"/>
            <a:ext cx="576992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Summary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8086" y="1663700"/>
            <a:ext cx="343586" cy="343595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31" y="1700709"/>
            <a:ext cx="215597" cy="2694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75217" y="1716187"/>
            <a:ext cx="529279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Revenue Expansion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5217" y="2074267"/>
            <a:ext cx="529279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 charging revenue grew from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£1.03M (2022)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£4.55M (2024)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driven by session volume growth — not price increases.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8086" y="2799457"/>
            <a:ext cx="343586" cy="343595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31" y="2836466"/>
            <a:ext cx="215597" cy="2694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75217" y="2851944"/>
            <a:ext cx="529279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Demand 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5217" y="3210024"/>
            <a:ext cx="529279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Charging sessions increased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312%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over three years, indicating strong underlying market expansion.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8086" y="3935214"/>
            <a:ext cx="343586" cy="343595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31" y="3972223"/>
            <a:ext cx="215597" cy="2694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5217" y="3987701"/>
            <a:ext cx="529279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Forecast 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5217" y="4345781"/>
            <a:ext cx="529279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Holt-Winters exponential smoothing reduced forecast error by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~30%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versus naive baseline on the held-out test period.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8086" y="5070971"/>
            <a:ext cx="343586" cy="343595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31" y="5107980"/>
            <a:ext cx="215597" cy="2694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75217" y="5123458"/>
            <a:ext cx="529279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 Sensitivity Limitation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5217" y="5481538"/>
            <a:ext cx="529279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Monthly aggregated data is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insufficient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establish a statistically reliable price-demand relationship (p = 0.854).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46815" y="1288852"/>
            <a:ext cx="465304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Portfolio KPIs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46815" y="1663700"/>
          <a:ext cx="9143771" cy="914400"/>
        </p:xfrm>
        <a:graphic>
          <a:graphicData uri="http://schemas.openxmlformats.org/drawingml/2006/table">
            <a:tbl>
              <a:tblPr/>
              <a:tblGrid>
                <a:gridCol w="2791827"/>
                <a:gridCol w="1861218"/>
              </a:tblGrid>
              <a:tr h="405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Metric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Value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408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Total Revenue (2022–2024)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£8.17M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408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Total Energy Delivered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13.81M kWh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408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Total Sessions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294,024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405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2025 Forecast Revenue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-24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£6.43M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2726" marR="152726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846815" y="3900388"/>
            <a:ext cx="4653045" cy="1905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846815" y="4107855"/>
            <a:ext cx="465304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Next Analytical Opportunity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846815" y="4482703"/>
            <a:ext cx="4653045" cy="1232694"/>
          </a:xfrm>
          <a:prstGeom prst="roundRect">
            <a:avLst>
              <a:gd name="adj" fmla="val 5204"/>
            </a:avLst>
          </a:prstGeom>
          <a:solidFill>
            <a:srgbClr val="D8E7F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9509" y="4692154"/>
            <a:ext cx="190892" cy="15269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343095" y="4641056"/>
            <a:ext cx="4004071" cy="915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Session-level pricing analysis with controls for station, charger type, user type, time of day, and seasonality — to isolate pricing effects that aggregate monthly data cannot reveal.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846815" y="5865713"/>
            <a:ext cx="4653045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approach would provide the granularity needed to produce statistically defensible elasticity estimates and inform evidence-based pricing strategy.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2026-09-16T15:43:25Z</dcterms:created>
  <dcterms:modified xsi:type="dcterms:W3CDTF">2026-09-16T15:43:25Z</dcterms:modified>
</cp:coreProperties>
</file>