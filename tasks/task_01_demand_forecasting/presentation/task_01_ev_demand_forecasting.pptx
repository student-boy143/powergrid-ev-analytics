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1365" cy="6858000"/>
  <p:notesSz cx="6858000" cy="12191365"/>
  <p:embeddedFontLst>
    <p:embeddedFont>
      <p:font typeface="Funnel Display" pitchFamily="34" charset="0"/>
      <p:regular r:id="rId13"/>
    </p:embeddedFont>
    <p:embeddedFont>
      <p:font typeface="Funnel Display" pitchFamily="34" charset="-122"/>
      <p:regular r:id="rId14"/>
    </p:embeddedFont>
    <p:embeddedFont>
      <p:font typeface="Funnel Display" pitchFamily="34" charset="-120"/>
      <p:regular r:id="rId15"/>
    </p:embeddedFont>
    <p:embeddedFont>
      <p:font typeface="Funnel Sans" pitchFamily="34" charset="0"/>
      <p:regular r:id="rId16"/>
    </p:embeddedFont>
    <p:embeddedFont>
      <p:font typeface="Funnel Sans" pitchFamily="34" charset="-122"/>
      <p:regular r:id="rId17"/>
    </p:embeddedFont>
    <p:embeddedFont>
      <p:font typeface="Funnel Sans" pitchFamily="34" charset="-120"/>
      <p:regular r:id="rId18"/>
    </p:embeddedFont>
    <p:embeddedFont>
      <p:font typeface="Funnel Sans Bold" pitchFamily="34" charset="0"/>
      <p:bold r:id="rId19"/>
    </p:embeddedFont>
    <p:embeddedFont>
      <p:font typeface="Funnel Sans Bold" pitchFamily="34" charset="-122"/>
      <p:bold r:id="rId20"/>
    </p:embeddedFont>
    <p:embeddedFont>
      <p:font typeface="Funnel Sans Bold" pitchFamily="34" charset="-120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3.fntdata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0812"/>
            <a:ext cx="10795524" cy="5132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 Charging Demand Forecasting &amp;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3293" y="1483122"/>
            <a:ext cx="11405108" cy="279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PowerGrid EV Analytics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2002234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572379" y="2261195"/>
            <a:ext cx="5436258" cy="1600398"/>
          </a:xfrm>
          <a:prstGeom prst="roundRect">
            <a:avLst>
              <a:gd name="adj" fmla="val 7853"/>
            </a:avLst>
          </a:prstGeom>
          <a:solidFill>
            <a:srgbClr val="3371A5"/>
          </a:solidFill>
        </p:spPr>
      </p:sp>
      <p:sp>
        <p:nvSpPr>
          <p:cNvPr id="6" name="Text 4"/>
          <p:cNvSpPr/>
          <p:nvPr/>
        </p:nvSpPr>
        <p:spPr>
          <a:xfrm>
            <a:off x="746900" y="2435721"/>
            <a:ext cx="5087215" cy="256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6900" y="2866926"/>
            <a:ext cx="5696800" cy="279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UK EV Charging Data | 2022–2024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15115" y="2435721"/>
            <a:ext cx="5184844" cy="256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Analytical 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15115" y="2866926"/>
            <a:ext cx="5184844" cy="8376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Statistical and machine-learning forecasting models evaluated against unseen test data to identify the best-performing approach for operational planning.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8086" y="4057948"/>
            <a:ext cx="5310452" cy="1002308"/>
          </a:xfrm>
          <a:prstGeom prst="roundRect">
            <a:avLst>
              <a:gd name="adj" fmla="val 731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957" y="4238823"/>
            <a:ext cx="4948709" cy="256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Period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8957" y="4600178"/>
            <a:ext cx="4948709" cy="279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 Jan 2022 – 31 Dec 2024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3059" y="4057948"/>
            <a:ext cx="5310551" cy="1002308"/>
          </a:xfrm>
          <a:prstGeom prst="roundRect">
            <a:avLst>
              <a:gd name="adj" fmla="val 731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3930" y="4238823"/>
            <a:ext cx="4948808" cy="256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Sessions Analysed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30" y="4600178"/>
            <a:ext cx="4948808" cy="279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294,024 charging sessions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8086" y="5234781"/>
            <a:ext cx="5310452" cy="1002308"/>
          </a:xfrm>
          <a:prstGeom prst="roundRect">
            <a:avLst>
              <a:gd name="adj" fmla="val 731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957" y="5415657"/>
            <a:ext cx="4948709" cy="256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Daily Observations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8957" y="5777012"/>
            <a:ext cx="4948709" cy="279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1,096 daily data points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83059" y="5234781"/>
            <a:ext cx="5310551" cy="1002308"/>
          </a:xfrm>
          <a:prstGeom prst="roundRect">
            <a:avLst>
              <a:gd name="adj" fmla="val 731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3930" y="5415657"/>
            <a:ext cx="4948808" cy="256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Models Compared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3930" y="5777012"/>
            <a:ext cx="4948808" cy="2792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SARIMA vs. XGBoost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32309"/>
            <a:ext cx="1240699" cy="203101"/>
          </a:xfrm>
          <a:prstGeom prst="roundRect">
            <a:avLst>
              <a:gd name="adj" fmla="val 22108"/>
            </a:avLst>
          </a:prstGeom>
          <a:solidFill>
            <a:srgbClr val="D8E7F3"/>
          </a:solidFill>
        </p:spPr>
      </p:sp>
      <p:sp>
        <p:nvSpPr>
          <p:cNvPr id="3" name="Text 1"/>
          <p:cNvSpPr/>
          <p:nvPr/>
        </p:nvSpPr>
        <p:spPr>
          <a:xfrm>
            <a:off x="778252" y="572393"/>
            <a:ext cx="1689951" cy="122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776288"/>
            <a:ext cx="10795524" cy="393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kern="0" spc="-2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Objective &amp; Dataset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601846" y="1322685"/>
            <a:ext cx="5204786" cy="5002907"/>
          </a:xfrm>
          <a:prstGeom prst="roundRect">
            <a:avLst>
              <a:gd name="adj" fmla="val 1923"/>
            </a:avLst>
          </a:prstGeom>
          <a:solidFill>
            <a:srgbClr val="3371A5"/>
          </a:solidFill>
        </p:spPr>
      </p:sp>
      <p:sp>
        <p:nvSpPr>
          <p:cNvPr id="6" name="Text 4"/>
          <p:cNvSpPr/>
          <p:nvPr/>
        </p:nvSpPr>
        <p:spPr>
          <a:xfrm>
            <a:off x="735391" y="1424980"/>
            <a:ext cx="4937696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1399" y="1769070"/>
            <a:ext cx="188610" cy="235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21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8308" y="1782564"/>
            <a:ext cx="4534779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Forecast daily EV charging demand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8308" y="2081411"/>
            <a:ext cx="4534779" cy="377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 reliable daily-level energy demand predictions across multiple time horizons.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1399" y="2695873"/>
            <a:ext cx="188610" cy="235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21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38308" y="2709366"/>
            <a:ext cx="4534779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Compare forecasting approaches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8308" y="3008213"/>
            <a:ext cx="4534779" cy="377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Benchmark a statistical baseline (SARIMA) against a machine-learning model (XGBoost).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1399" y="3622675"/>
            <a:ext cx="188610" cy="235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kern="0" spc="-21" dirty="0">
                <a:solidFill>
                  <a:srgbClr val="3371A5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38308" y="3636169"/>
            <a:ext cx="4534779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Generate multi-horizon forecasts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8308" y="3935016"/>
            <a:ext cx="4534779" cy="1887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Produce 30-day, 90-day, and 365-day forward-looking demand estimates.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42767" y="1424980"/>
            <a:ext cx="5457093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42767" y="1803400"/>
            <a:ext cx="5457093" cy="441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294K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6042767" y="2387898"/>
            <a:ext cx="5457093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Charging Sessions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42767" y="2686745"/>
            <a:ext cx="5457093" cy="1887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sessions recorded across the full three-year coverage period.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42767" y="3146822"/>
            <a:ext cx="5457093" cy="4410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5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1,096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6042767" y="3731320"/>
            <a:ext cx="5457093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Daily Observations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42767" y="4030166"/>
            <a:ext cx="5457093" cy="1887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observation per calendar day from 1 Jan 2022 to 31 Dec 2024.</a:t>
            </a:r>
            <a:endParaRPr lang="en-US" sz="10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42767" y="4333974"/>
            <a:ext cx="5457093" cy="79275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271560" y="4486573"/>
            <a:ext cx="5075706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Primary Variable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271560" y="4785420"/>
            <a:ext cx="5075706" cy="1887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kern="0" spc="-21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energy_kwh</a:t>
            </a:r>
            <a:r>
              <a:rPr lang="en-US" sz="105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daily total charging energy consumed across all sessions.</a:t>
            </a:r>
            <a:endParaRPr lang="en-US" sz="10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2767" y="5229027"/>
            <a:ext cx="5457093" cy="981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271560" y="5381625"/>
            <a:ext cx="5075706" cy="19655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Coverage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271560" y="5680472"/>
            <a:ext cx="5075706" cy="3774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-2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Three full calendar years (2022, 2023, 2024), providing a rich seasonal and trend signal for modelling.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18815"/>
            <a:ext cx="1535372" cy="236141"/>
          </a:xfrm>
          <a:prstGeom prst="roundRect">
            <a:avLst>
              <a:gd name="adj" fmla="val 22119"/>
            </a:avLst>
          </a:prstGeom>
          <a:solidFill>
            <a:srgbClr val="D8E7F3"/>
          </a:solidFill>
        </p:spPr>
      </p:sp>
      <p:sp>
        <p:nvSpPr>
          <p:cNvPr id="3" name="Text 1"/>
          <p:cNvSpPr/>
          <p:nvPr/>
        </p:nvSpPr>
        <p:spPr>
          <a:xfrm>
            <a:off x="791349" y="565448"/>
            <a:ext cx="1958430" cy="1428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EXPLORATORY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98086" y="810320"/>
            <a:ext cx="10795524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Charging Demand Trends &amp; Seasonality</a:t>
            </a:r>
            <a:endParaRPr lang="en-US" sz="2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30859"/>
            <a:ext cx="5766846" cy="39578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5744369"/>
            <a:ext cx="5766846" cy="470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Weekday demand averages </a:t>
            </a:r>
            <a:r>
              <a:rPr lang="en-US" sz="120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13,650 kWh/day</a:t>
            </a: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versus </a:t>
            </a:r>
            <a:r>
              <a:rPr lang="en-US" sz="120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10,000 kWh/day</a:t>
            </a: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 weekends — a </a:t>
            </a:r>
            <a:r>
              <a:rPr lang="en-US" sz="1200" b="1" kern="0" spc="-24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~37% uplift</a:t>
            </a: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 working days.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0486" y="1613595"/>
            <a:ext cx="4649374" cy="228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Findings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0486" y="1997770"/>
            <a:ext cx="2255483" cy="18915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01107" y="2172196"/>
            <a:ext cx="1830441" cy="228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Year-on-Year Growth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101107" y="2539107"/>
            <a:ext cx="1830441" cy="11757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Strong and consistent growth in daily charging demand across 2022, 2023, and 2024, reflecting rapid network utilisation growth.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44377" y="1997770"/>
            <a:ext cx="2255483" cy="18915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94997" y="2172196"/>
            <a:ext cx="1830441" cy="228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Weekly Seasonality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494997" y="2539107"/>
            <a:ext cx="1830441" cy="940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altLang="en-US" sz="1200" dirty="0"/>
              <a:t>A clear and repeating weekly cycle is present in the data, with demand consistently higher on weekdays than weekends.</a:t>
            </a:r>
            <a:endParaRPr lang="en-US" alt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0486" y="4027686"/>
            <a:ext cx="2255483" cy="21266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01107" y="4202113"/>
            <a:ext cx="1830441" cy="4570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Weekday vs. Weekend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101107" y="4797524"/>
            <a:ext cx="1830441" cy="9405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Mon–Fri:</a:t>
            </a: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~13.6–13.7 thousand kWh/day</a:t>
            </a:r>
            <a:endParaRPr lang="en-US" sz="12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00" b="1" kern="0" spc="-2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Sat–Sun:</a:t>
            </a: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~10 thousand kWh/day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44377" y="4027686"/>
            <a:ext cx="2255483" cy="212665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94997" y="4202113"/>
            <a:ext cx="1830441" cy="228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Day-Level Variation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9494997" y="4569023"/>
            <a:ext cx="1830441" cy="14108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Daily demand fluctuates around the upward trend, confirming the need for models that capture both seasonality and trend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86767"/>
            <a:ext cx="734300" cy="132457"/>
          </a:xfrm>
          <a:prstGeom prst="roundRect">
            <a:avLst>
              <a:gd name="adj" fmla="val 22138"/>
            </a:avLst>
          </a:prstGeom>
          <a:solidFill>
            <a:srgbClr val="D8E7F3"/>
          </a:solidFill>
        </p:spPr>
      </p:sp>
      <p:sp>
        <p:nvSpPr>
          <p:cNvPr id="3" name="Text 1"/>
          <p:cNvSpPr/>
          <p:nvPr/>
        </p:nvSpPr>
        <p:spPr>
          <a:xfrm>
            <a:off x="750373" y="512862"/>
            <a:ext cx="1239310" cy="802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kern="0" spc="-1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EVALUATION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98086" y="636587"/>
            <a:ext cx="10795524" cy="2566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Forecasting Model Comparison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98086" y="958652"/>
            <a:ext cx="11405108" cy="1047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Both models were evaluated on the final </a:t>
            </a:r>
            <a:r>
              <a:rPr lang="en-US" sz="650" b="1" kern="0" spc="-1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unseen 90-day test period</a:t>
            </a:r>
            <a:r>
              <a:rPr lang="en-US" sz="650" kern="0" spc="-1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Lower RMSE and MAPE values indicate superior forecasting accuracy.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98086" y="1155998"/>
            <a:ext cx="5291303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RMSE Comparison </a:t>
            </a:r>
            <a:r>
              <a:rPr lang="en-US" sz="800" i="1" kern="0" spc="-1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(lower is better)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08656" y="1155998"/>
            <a:ext cx="5291303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MAPE Comparison </a:t>
            </a:r>
            <a:r>
              <a:rPr lang="en-US" sz="800" i="1" kern="0" spc="-1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(lower is better)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98086" y="5283696"/>
            <a:ext cx="5291303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SARIMA(1,1,1)(1,1,1,7) — Statistical Baseline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5461000"/>
            <a:ext cx="2623873" cy="5812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8795" y="5560913"/>
            <a:ext cx="2373253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RMSE: 1,856.88 kWh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848795" y="5732760"/>
            <a:ext cx="2373253" cy="1047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Root mean squared error on the 90-day unseen test set.</a:t>
            </a:r>
            <a:endParaRPr lang="en-US" sz="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5515" y="5461000"/>
            <a:ext cx="2623873" cy="5812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16225" y="5560913"/>
            <a:ext cx="2373253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MAPE: 7.95%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3516225" y="5732760"/>
            <a:ext cx="2373253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Mean absolute percentage error — roughly 1 in 12 units off on average.</a:t>
            </a:r>
            <a:endParaRPr lang="en-US" sz="650" dirty="0"/>
          </a:p>
        </p:txBody>
      </p:sp>
      <p:sp>
        <p:nvSpPr>
          <p:cNvPr id="17" name="Shape 11"/>
          <p:cNvSpPr/>
          <p:nvPr/>
        </p:nvSpPr>
        <p:spPr>
          <a:xfrm>
            <a:off x="6145753" y="5240139"/>
            <a:ext cx="5417109" cy="851098"/>
          </a:xfrm>
          <a:prstGeom prst="roundRect">
            <a:avLst>
              <a:gd name="adj" fmla="val 7383"/>
            </a:avLst>
          </a:prstGeom>
          <a:solidFill>
            <a:srgbClr val="3371A5"/>
          </a:solidFill>
        </p:spPr>
      </p:sp>
      <p:sp>
        <p:nvSpPr>
          <p:cNvPr id="18" name="Text 12"/>
          <p:cNvSpPr/>
          <p:nvPr/>
        </p:nvSpPr>
        <p:spPr>
          <a:xfrm>
            <a:off x="6232964" y="5283696"/>
            <a:ext cx="5242687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XGBoost — Machine Learning Model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2964" y="5461000"/>
            <a:ext cx="2599565" cy="58122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83674" y="5560913"/>
            <a:ext cx="2348945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RMSE: 1,123.90 kWh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6383674" y="5732760"/>
            <a:ext cx="2348945" cy="1047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4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39.5% lower RMSE than SARIMA on the same test period.</a:t>
            </a:r>
            <a:endParaRPr lang="en-US" sz="6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6086" y="5461000"/>
            <a:ext cx="2599565" cy="58122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026795" y="5560913"/>
            <a:ext cx="2348945" cy="128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kern="0" spc="-1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MAPE: 4.29%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9026795" y="5732760"/>
            <a:ext cx="2348945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kern="0" spc="-14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46% lower MAPE — leveraging engineered temporal and lag features.</a:t>
            </a:r>
            <a:endParaRPr lang="en-US" sz="650" dirty="0"/>
          </a:p>
        </p:txBody>
      </p:sp>
      <p:sp>
        <p:nvSpPr>
          <p:cNvPr id="25" name="Shape 17"/>
          <p:cNvSpPr/>
          <p:nvPr/>
        </p:nvSpPr>
        <p:spPr>
          <a:xfrm>
            <a:off x="698086" y="6140252"/>
            <a:ext cx="10795524" cy="230981"/>
          </a:xfrm>
          <a:prstGeom prst="roundRect">
            <a:avLst>
              <a:gd name="adj" fmla="val 15869"/>
            </a:avLst>
          </a:prstGeom>
          <a:solidFill>
            <a:srgbClr val="D8E7F3"/>
          </a:solidFill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97" y="6205538"/>
            <a:ext cx="109039" cy="8721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81547" y="6205538"/>
            <a:ext cx="11034436" cy="1047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-14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Conclusion:</a:t>
            </a:r>
            <a:r>
              <a:rPr lang="en-US" sz="650" kern="0" spc="-1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XGBoost outperformed SARIMA on both RMSE and MAPE across the unseen 90-day test period and was selected as the preferred model for future demand forecasting.</a:t>
            </a:r>
            <a:endParaRPr lang="en-US" sz="6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50" y="1545590"/>
            <a:ext cx="4723765" cy="281178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255" y="1678940"/>
            <a:ext cx="4753610" cy="2712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91232"/>
            <a:ext cx="1288621" cy="223738"/>
          </a:xfrm>
          <a:prstGeom prst="roundRect">
            <a:avLst>
              <a:gd name="adj" fmla="val 22117"/>
            </a:avLst>
          </a:prstGeom>
          <a:solidFill>
            <a:srgbClr val="D8E7F3"/>
          </a:solidFill>
        </p:spPr>
      </p:sp>
      <p:sp>
        <p:nvSpPr>
          <p:cNvPr id="3" name="Text 1"/>
          <p:cNvSpPr/>
          <p:nvPr/>
        </p:nvSpPr>
        <p:spPr>
          <a:xfrm>
            <a:off x="786388" y="535384"/>
            <a:ext cx="1721601" cy="1354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FORWARD FORECAST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764580"/>
            <a:ext cx="10795524" cy="4331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kern="0" spc="-2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XGBoost Future Demand Forecast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8086" y="1508323"/>
            <a:ext cx="4660387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Predicted Average Daily Demand by Horizon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98086" y="1864519"/>
          <a:ext cx="9143771" cy="1751367"/>
        </p:xfrm>
        <a:graphic>
          <a:graphicData uri="http://schemas.openxmlformats.org/drawingml/2006/table">
            <a:tbl>
              <a:tblPr/>
              <a:tblGrid>
                <a:gridCol w="2097174"/>
                <a:gridCol w="2563213"/>
              </a:tblGrid>
              <a:tr h="599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Forecast Horizon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71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FFFFFF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Avg. Predicted Daily Demand (kWh)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3371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1A5"/>
                    </a:solidFill>
                  </a:tcPr>
                </a:tc>
              </a:tr>
              <a:tr h="38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30 days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21,334.91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38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90 days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21,148.30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  <a:tr h="38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365 days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2B3541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21,310.52</a:t>
                      </a:r>
                      <a:endParaRPr lang="en-US" sz="1150" dirty="0">
                        <a:latin typeface="Funnel Sans" pitchFamily="34" charset="0"/>
                        <a:ea typeface="Funnel Sans" pitchFamily="34" charset="0"/>
                        <a:cs typeface="Funnel Sans" pitchFamily="34" charset="0"/>
                      </a:endParaRPr>
                    </a:p>
                  </a:txBody>
                  <a:tcPr marL="147272" marR="147272" marT="6350" marB="6350" anchor="ctr">
                    <a:lnL w="12700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CD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98086" y="3768328"/>
            <a:ext cx="4660387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three horizons converge near </a:t>
            </a:r>
            <a:r>
              <a:rPr lang="en-US" sz="1150" b="1" kern="0" spc="-23" dirty="0">
                <a:solidFill>
                  <a:srgbClr val="3371A5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21.3 MWh/day</a:t>
            </a: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indicating a stable forward demand baseline.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23985" y="1508323"/>
            <a:ext cx="5775875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Interpretation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79487" y="1915120"/>
            <a:ext cx="5320373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~21.3 MWh/day Stable Baseline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79487" y="2255838"/>
            <a:ext cx="5320373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Forecasted demand is approximately </a:t>
            </a:r>
            <a:r>
              <a:rPr lang="en-US" sz="1150" b="1" kern="0" spc="-23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21.3 MWh/day</a:t>
            </a: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all three horizons, reflecting continued but stabilising growth from the 2022–2024 trajectory.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79487" y="2989064"/>
            <a:ext cx="5320373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Long-Horizon Stability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79487" y="3329781"/>
            <a:ext cx="5320373" cy="6512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365-day forecast remains relatively stable rather than projecting accelerating growth, and should be interpreted as a </a:t>
            </a:r>
            <a:r>
              <a:rPr lang="en-US" sz="1150" b="1" kern="0" spc="-23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baseline planning forecast</a:t>
            </a: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rather than a highly dynamic long-term prediction.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79487" y="4280098"/>
            <a:ext cx="5320373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Horizon-Appropriate Use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79487" y="4620816"/>
            <a:ext cx="5320373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</a:t>
            </a:r>
            <a:r>
              <a:rPr lang="en-US" sz="1150" b="1" kern="0" spc="-23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30-day forecast</a:t>
            </a: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most reliable for short-term operational planning; the </a:t>
            </a:r>
            <a:r>
              <a:rPr lang="en-US" sz="1150" b="1" kern="0" spc="-23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365-day forecast</a:t>
            </a: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best suited to strategic infrastructure capacity decisions.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8086" y="5334397"/>
            <a:ext cx="3515629" cy="1032371"/>
          </a:xfrm>
          <a:prstGeom prst="roundRect">
            <a:avLst>
              <a:gd name="adj" fmla="val 599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1672" y="5487988"/>
            <a:ext cx="3208456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30-Day Horizon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51672" y="5778996"/>
            <a:ext cx="3208456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21,334.91 kWh/day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Short-term operational planning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37934" y="5334397"/>
            <a:ext cx="3515728" cy="1032371"/>
          </a:xfrm>
          <a:prstGeom prst="roundRect">
            <a:avLst>
              <a:gd name="adj" fmla="val 599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91520" y="5487988"/>
            <a:ext cx="3208555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90-Day Horizon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491520" y="5778996"/>
            <a:ext cx="3208555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21,148.30 kWh/day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Medium-term resource scheduling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77881" y="5334397"/>
            <a:ext cx="3515629" cy="1032371"/>
          </a:xfrm>
          <a:prstGeom prst="roundRect">
            <a:avLst>
              <a:gd name="adj" fmla="val 599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1468" y="5487988"/>
            <a:ext cx="3208456" cy="216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365-Day Horizon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131468" y="5778996"/>
            <a:ext cx="3208456" cy="4341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21,310.52 kWh/day</a:t>
            </a:r>
            <a:endParaRPr lang="en-US" sz="11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50" kern="0" spc="-23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Strategic capacity planning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82600"/>
            <a:ext cx="835203" cy="194766"/>
          </a:xfrm>
          <a:prstGeom prst="roundRect">
            <a:avLst>
              <a:gd name="adj" fmla="val 22113"/>
            </a:avLst>
          </a:prstGeom>
          <a:solidFill>
            <a:srgbClr val="D8E7F3"/>
          </a:solidFill>
        </p:spPr>
      </p:sp>
      <p:sp>
        <p:nvSpPr>
          <p:cNvPr id="3" name="Text 1"/>
          <p:cNvSpPr/>
          <p:nvPr/>
        </p:nvSpPr>
        <p:spPr>
          <a:xfrm>
            <a:off x="774978" y="520998"/>
            <a:ext cx="1291002" cy="117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8086" y="714970"/>
            <a:ext cx="10795524" cy="377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kern="0" spc="-2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Business Insights &amp; Recommendations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98086" y="1327249"/>
            <a:ext cx="5241397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Business Insights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621631"/>
            <a:ext cx="320369" cy="3203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8086" y="2059583"/>
            <a:ext cx="5241397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Increasing Demand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8086" y="2342158"/>
            <a:ext cx="5241397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 charging demand increased substantially between 2022 and 2024, indicating growing utilisation of the charging network and the need for proactive infrastructure planning.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885976"/>
            <a:ext cx="320369" cy="3203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8086" y="3323927"/>
            <a:ext cx="5241397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Weekly Demand Pattern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98086" y="3606502"/>
            <a:ext cx="5241397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Weekday charging demand is significantly higher than weekend demand (~13.6–13.7 vs. ~10 thousand kWh/day), creating a predictable and exploitable weekly cycle.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150320"/>
            <a:ext cx="320369" cy="3203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8086" y="4588272"/>
            <a:ext cx="5241397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Forecast-Based Planning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98086" y="4870847"/>
            <a:ext cx="5241397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XGBoost model provides a data-driven estimate of future charging demand (~21.3 MWh/day) for both operational and infrastructure planning purposes.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66192" y="1233190"/>
            <a:ext cx="5426138" cy="4438055"/>
          </a:xfrm>
          <a:prstGeom prst="roundRect">
            <a:avLst>
              <a:gd name="adj" fmla="val 2080"/>
            </a:avLst>
          </a:prstGeom>
          <a:solidFill>
            <a:srgbClr val="3371A5"/>
          </a:solidFill>
        </p:spPr>
      </p:sp>
      <p:sp>
        <p:nvSpPr>
          <p:cNvPr id="16" name="Text 11"/>
          <p:cNvSpPr/>
          <p:nvPr/>
        </p:nvSpPr>
        <p:spPr>
          <a:xfrm>
            <a:off x="6294280" y="1327249"/>
            <a:ext cx="5169961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Recommendations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2301" y="1625600"/>
            <a:ext cx="192182" cy="1921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10691" y="1621631"/>
            <a:ext cx="4753551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Infrastructure Expansion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710691" y="1904206"/>
            <a:ext cx="4753551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demand forecasts to support evidence-based charging infrastructure expansion decisions.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2301" y="2451993"/>
            <a:ext cx="192182" cy="19218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10691" y="2448024"/>
            <a:ext cx="4753551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Peak Demand Monitoring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710691" y="2730599"/>
            <a:ext cx="4753551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weekday peak demand and station-level utilisation to identify capacity constraints early.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2301" y="3278386"/>
            <a:ext cx="192182" cy="19218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10691" y="3274417"/>
            <a:ext cx="4753551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Maintenance Scheduling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6710691" y="3556992"/>
            <a:ext cx="4753551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Schedule maintenance during lower-demand periods (weekends) where operationally possible.</a:t>
            </a:r>
            <a:endParaRPr lang="en-US" sz="10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2301" y="4104779"/>
            <a:ext cx="192182" cy="19218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10691" y="4100810"/>
            <a:ext cx="4753551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Model Retraining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6710691" y="4383385"/>
            <a:ext cx="4753551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Continuously retrain the XGBoost model as new charging data becomes available; monitor performance via RMSE and MAPE.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2301" y="4931172"/>
            <a:ext cx="192182" cy="192187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710691" y="4927203"/>
            <a:ext cx="4753551" cy="1885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-2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Planning Horizon Selection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6710691" y="5209778"/>
            <a:ext cx="4753551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kern="0" spc="-2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the 30-day forecast for short-term operations and longer horizons for strategic capacity planning.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698086" y="5777111"/>
            <a:ext cx="10795524" cy="598190"/>
          </a:xfrm>
          <a:prstGeom prst="roundRect">
            <a:avLst>
              <a:gd name="adj" fmla="val 9000"/>
            </a:avLst>
          </a:prstGeom>
          <a:solidFill>
            <a:srgbClr val="D8E7F3"/>
          </a:solidFill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74" y="5911652"/>
            <a:ext cx="160135" cy="12809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114397" y="5903119"/>
            <a:ext cx="10251124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b="1" kern="0" spc="-20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Conclusion:</a:t>
            </a:r>
            <a:r>
              <a:rPr lang="en-US" sz="1000" kern="0" spc="-2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XGBoost achieved better forecasting performance than SARIMA on the unseen 90-day test period (RMSE 1,123.90 kWh vs. 1,856.88 kWh; MAPE 4.29% vs. 7.95%) and was selected as the preferred model for future EV charging demand forecasting.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5221</Words>
  <Application>WPS Presentation</Application>
  <PresentationFormat>On-screen Show (16:9)</PresentationFormat>
  <Paragraphs>226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Funnel Display</vt:lpstr>
      <vt:lpstr>Funnel Display</vt:lpstr>
      <vt:lpstr>Funnel Display</vt:lpstr>
      <vt:lpstr>Funnel Sans</vt:lpstr>
      <vt:lpstr>Funnel Sans</vt:lpstr>
      <vt:lpstr>Funnel Sans</vt:lpstr>
      <vt:lpstr>Funnel Sans Bold</vt:lpstr>
      <vt:lpstr>Funnel Sans Bold</vt:lpstr>
      <vt:lpstr>Funnel Sans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Lenovo</cp:lastModifiedBy>
  <cp:revision>2</cp:revision>
  <dcterms:created xsi:type="dcterms:W3CDTF">2026-09-13T18:04:00Z</dcterms:created>
  <dcterms:modified xsi:type="dcterms:W3CDTF">2026-09-13T18:13:39Z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4FA3E48686B3447389986F70B385C48A_12</vt:lpwstr>
  </property>
</Properties>
</file>